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94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QUESSATHON FINAL PRESENTATION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960120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6C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PITCH · 3 MIN DEMO · 2 MIN REALITY TEST · 7 SLIDES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9445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07 — Counterfeit Parts Verification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Automotive · aftermarket parts supply chain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43984" y="3657600"/>
            <a:ext cx="3291840" cy="0"/>
          </a:xfrm>
          <a:prstGeom prst="line">
            <a:avLst/>
          </a:prstGeom>
          <a:noFill/>
          <a:ln w="12700">
            <a:solidFill>
              <a:srgbClr val="2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38862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C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400" name="Gen 400"/>
          <p:cNvSpPr/>
          <p:nvPr/>
        </p:nvSpPr>
        <p:spPr>
          <a:xfrm>
            <a:off x="2301225" y="425196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2184A"/>
          </a:solidFill>
          <a:ln w="12700">
            <a:solidFill>
              <a:srgbClr val="2A3260"/>
            </a:solidFill>
            <a:prstDash val="solid"/>
          </a:ln>
        </p:spPr>
      </p:sp>
      <p:sp>
        <p:nvSpPr>
          <p:cNvPr id="401" name="GenText 401"/>
          <p:cNvSpPr/>
          <p:nvPr/>
        </p:nvSpPr>
        <p:spPr>
          <a:xfrm>
            <a:off x="2301225" y="4251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12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</a:t>
            </a:r>
          </a:p>
        </p:txBody>
      </p:sp>
      <p:sp>
        <p:nvSpPr>
          <p:cNvPr id="402" name="Gen 402"/>
          <p:cNvSpPr/>
          <p:nvPr/>
        </p:nvSpPr>
        <p:spPr>
          <a:xfrm>
            <a:off x="4907265" y="425196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2184A"/>
          </a:solidFill>
          <a:ln w="12700">
            <a:solidFill>
              <a:srgbClr val="2A3260"/>
            </a:solidFill>
            <a:prstDash val="solid"/>
          </a:ln>
        </p:spPr>
      </p:sp>
      <p:sp>
        <p:nvSpPr>
          <p:cNvPr id="403" name="GenText 403"/>
          <p:cNvSpPr/>
          <p:nvPr/>
        </p:nvSpPr>
        <p:spPr>
          <a:xfrm>
            <a:off x="4907265" y="4251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12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</a:t>
            </a:r>
          </a:p>
        </p:txBody>
      </p:sp>
      <p:sp>
        <p:nvSpPr>
          <p:cNvPr id="404" name="Gen 404"/>
          <p:cNvSpPr/>
          <p:nvPr/>
        </p:nvSpPr>
        <p:spPr>
          <a:xfrm>
            <a:off x="7513305" y="425196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2184A"/>
          </a:solidFill>
          <a:ln w="12700">
            <a:solidFill>
              <a:srgbClr val="2A3260"/>
            </a:solidFill>
            <a:prstDash val="solid"/>
          </a:ln>
        </p:spPr>
      </p:sp>
      <p:sp>
        <p:nvSpPr>
          <p:cNvPr id="405" name="GenText 405"/>
          <p:cNvSpPr/>
          <p:nvPr/>
        </p:nvSpPr>
        <p:spPr>
          <a:xfrm>
            <a:off x="7513305" y="4251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12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</a:t>
            </a:r>
          </a:p>
        </p:txBody>
      </p:sp>
      <p:sp>
        <p:nvSpPr>
          <p:cNvPr id="406" name="GenText 406"/>
          <p:cNvSpPr/>
          <p:nvPr/>
        </p:nvSpPr>
        <p:spPr>
          <a:xfrm>
            <a:off x="1371600" y="4937760"/>
            <a:ext cx="9445752" cy="566928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reads a part’s paper trail and decides — against 3.67 million government company records, fully offline — whether the part is what its paperwork claims.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3" name="Text 1"/>
          <p:cNvSpPr/>
          <p:nvPr/>
        </p:nvSpPr>
        <p:spPr>
          <a:xfrm>
            <a:off x="8257032" y="-3200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EF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914400" cy="0"/>
          </a:xfrm>
          <a:prstGeom prst="line">
            <a:avLst/>
          </a:prstGeom>
          <a:noFill/>
          <a:ln w="31750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i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hard about this problem?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QUESSATHON · FINAL PRESENTATION BRIEF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2591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  <p:sp>
        <p:nvSpPr>
          <p:cNvPr id="407" name="Gen 407"/>
          <p:cNvSpPr/>
          <p:nvPr/>
        </p:nvSpPr>
        <p:spPr>
          <a:xfrm>
            <a:off x="548640" y="2231136"/>
            <a:ext cx="3514314" cy="969264"/>
          </a:xfrm>
          <a:prstGeom prst="roundRect">
            <a:avLst>
              <a:gd name="adj" fmla="val 8491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08" name="GenText 408"/>
          <p:cNvSpPr/>
          <p:nvPr/>
        </p:nvSpPr>
        <p:spPr>
          <a:xfrm>
            <a:off x="694944" y="2231136"/>
            <a:ext cx="3221706" cy="96926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algn="ctr" indent="0" marL="0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₹33,000 cr</a:t>
            </a:r>
          </a:p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automotive aftermarket, per year</a:t>
            </a:r>
          </a:p>
        </p:txBody>
      </p:sp>
      <p:sp>
        <p:nvSpPr>
          <p:cNvPr id="409" name="Gen 409"/>
          <p:cNvSpPr/>
          <p:nvPr/>
        </p:nvSpPr>
        <p:spPr>
          <a:xfrm>
            <a:off x="4337274" y="2231136"/>
            <a:ext cx="3514314" cy="969264"/>
          </a:xfrm>
          <a:prstGeom prst="roundRect">
            <a:avLst>
              <a:gd name="adj" fmla="val 8491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10" name="GenText 410"/>
          <p:cNvSpPr/>
          <p:nvPr/>
        </p:nvSpPr>
        <p:spPr>
          <a:xfrm>
            <a:off x="4483578" y="2231136"/>
            <a:ext cx="3221706" cy="96926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algn="ctr" indent="0" marL="0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3</a:t>
            </a:r>
          </a:p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 share, by ACMA / SIAM estimates</a:t>
            </a:r>
          </a:p>
        </p:txBody>
      </p:sp>
      <p:sp>
        <p:nvSpPr>
          <p:cNvPr id="411" name="Gen 411"/>
          <p:cNvSpPr/>
          <p:nvPr/>
        </p:nvSpPr>
        <p:spPr>
          <a:xfrm>
            <a:off x="8125998" y="2231136"/>
            <a:ext cx="3514314" cy="969264"/>
          </a:xfrm>
          <a:prstGeom prst="roundRect">
            <a:avLst>
              <a:gd name="adj" fmla="val 8491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12" name="GenText 412"/>
          <p:cNvSpPr/>
          <p:nvPr/>
        </p:nvSpPr>
        <p:spPr>
          <a:xfrm>
            <a:off x="8272302" y="2231136"/>
            <a:ext cx="3221706" cy="96926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algn="ctr" indent="0" marL="0">
              <a:lnSpc>
                <a:spcPts val="2700"/>
              </a:lnSpc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Brakes · airbags</a:t>
            </a:r>
          </a:p>
          <a:p>
            <a:pPr algn="ctr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fake is a recall, not lost margin</a:t>
            </a:r>
          </a:p>
        </p:txBody>
      </p:sp>
      <p:sp>
        <p:nvSpPr>
          <p:cNvPr id="413" name="GenText 413"/>
          <p:cNvSpPr/>
          <p:nvPr/>
        </p:nvSpPr>
        <p:spPr>
          <a:xfrm>
            <a:off x="548640" y="33832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b="1" spc="200" kern="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ONE IS HARD</a:t>
            </a:r>
          </a:p>
        </p:txBody>
      </p:sp>
      <p:sp>
        <p:nvSpPr>
          <p:cNvPr id="414" name="Gen 414"/>
          <p:cNvSpPr/>
          <p:nvPr/>
        </p:nvSpPr>
        <p:spPr>
          <a:xfrm>
            <a:off x="594360" y="3726180"/>
            <a:ext cx="64008" cy="6400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15" name="GenText 415"/>
          <p:cNvSpPr/>
          <p:nvPr/>
        </p:nvSpPr>
        <p:spPr>
          <a:xfrm>
            <a:off x="841248" y="3675888"/>
            <a:ext cx="10799064" cy="354584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360"/>
              </a:lnSpc>
              <a:buNone/>
            </a:pPr>
            <a:r>
              <a:rPr lang="en-US" sz="11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object is a perfect copy — only the paper has to lie. </a:t>
            </a:r>
            <a:r>
              <a:rPr lang="en-US" sz="11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counterfeit caliper is engineered to look identical, so the honest signal is not in the part. It is in a record the forger does not control.</a:t>
            </a:r>
          </a:p>
        </p:txBody>
      </p:sp>
      <p:sp>
        <p:nvSpPr>
          <p:cNvPr id="416" name="Gen 416"/>
          <p:cNvSpPr/>
          <p:nvPr/>
        </p:nvSpPr>
        <p:spPr>
          <a:xfrm>
            <a:off x="594360" y="4345940"/>
            <a:ext cx="64008" cy="6400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17" name="GenText 417"/>
          <p:cNvSpPr/>
          <p:nvPr/>
        </p:nvSpPr>
        <p:spPr>
          <a:xfrm>
            <a:off x="841248" y="4295648"/>
            <a:ext cx="10799064" cy="354584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360"/>
              </a:lnSpc>
              <a:buNone/>
            </a:pPr>
            <a:r>
              <a:rPr lang="en-US" sz="11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There is no labelled corpus to learn from. </a:t>
            </a:r>
            <a:r>
              <a:rPr lang="en-US" sz="11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dataset of counterfeit dossiers exists, so anything trained on our own examples only learns our examples. That absence is part of the problem, not an excuse for hand-waving.</a:t>
            </a:r>
          </a:p>
        </p:txBody>
      </p:sp>
      <p:sp>
        <p:nvSpPr>
          <p:cNvPr id="418" name="Gen 418"/>
          <p:cNvSpPr/>
          <p:nvPr/>
        </p:nvSpPr>
        <p:spPr>
          <a:xfrm>
            <a:off x="594360" y="4965700"/>
            <a:ext cx="64008" cy="6400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19" name="GenText 419"/>
          <p:cNvSpPr/>
          <p:nvPr/>
        </p:nvSpPr>
        <p:spPr>
          <a:xfrm>
            <a:off x="841248" y="4915408"/>
            <a:ext cx="10799064" cy="354584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360"/>
              </a:lnSpc>
              <a:buNone/>
            </a:pPr>
            <a:r>
              <a:rPr lang="en-US" sz="11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scenario catalogue is always one case behind. </a:t>
            </a:r>
            <a:r>
              <a:rPr lang="en-US" sz="11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Forgers recombine ordinary claims. Enumerating known fraud patterns guarantees the unseen case falls through the gap between two of them.</a:t>
            </a:r>
          </a:p>
        </p:txBody>
      </p:sp>
      <p:sp>
        <p:nvSpPr>
          <p:cNvPr id="420" name="Gen 420"/>
          <p:cNvSpPr/>
          <p:nvPr/>
        </p:nvSpPr>
        <p:spPr>
          <a:xfrm>
            <a:off x="594360" y="5585460"/>
            <a:ext cx="64008" cy="6400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1" name="GenText 421"/>
          <p:cNvSpPr/>
          <p:nvPr/>
        </p:nvSpPr>
        <p:spPr>
          <a:xfrm>
            <a:off x="841248" y="5535168"/>
            <a:ext cx="10799064" cy="354584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360"/>
              </a:lnSpc>
              <a:buNone/>
            </a:pPr>
            <a:r>
              <a:rPr lang="en-US" sz="11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Both mistakes are expensive, and they are not symmetric. </a:t>
            </a:r>
            <a:r>
              <a:rPr lang="en-US" sz="11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GENUINE on a brake part is a recall; a wrong SUSPECT accuses a real supplier. Most thin dossiers are sloppy, not criminal — so “flag everything” is not a solution either.</a:t>
            </a:r>
          </a:p>
        </p:txBody>
      </p:sp>
      <p:sp>
        <p:nvSpPr>
          <p:cNvPr id="422" name="Gen 422"/>
          <p:cNvSpPr/>
          <p:nvPr/>
        </p:nvSpPr>
        <p:spPr>
          <a:xfrm>
            <a:off x="594360" y="6205220"/>
            <a:ext cx="64008" cy="6400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3" name="GenText 423"/>
          <p:cNvSpPr/>
          <p:nvPr/>
        </p:nvSpPr>
        <p:spPr>
          <a:xfrm>
            <a:off x="841248" y="6154928"/>
            <a:ext cx="10799064" cy="181864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360"/>
              </a:lnSpc>
              <a:buNone/>
            </a:pPr>
            <a:r>
              <a:rPr lang="en-US" sz="11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evidence itself can be hostile. </a:t>
            </a:r>
            <a:r>
              <a:rPr lang="en-US" sz="11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documents are written by the party under investigation, and they can carry instructions aimed at whatever reads them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3" name="Text 1"/>
          <p:cNvSpPr/>
          <p:nvPr/>
        </p:nvSpPr>
        <p:spPr>
          <a:xfrm>
            <a:off x="8257032" y="-3200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EF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Engineering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914400" cy="0"/>
          </a:xfrm>
          <a:prstGeom prst="line">
            <a:avLst/>
          </a:prstGeom>
          <a:noFill/>
          <a:ln w="31750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i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build, and how does it work?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QUESSATHON · FINAL PRESENTATION BRIEF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591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  <p:sp>
        <p:nvSpPr>
          <p:cNvPr id="424" name="Gen 424"/>
          <p:cNvSpPr/>
          <p:nvPr/>
        </p:nvSpPr>
        <p:spPr>
          <a:xfrm>
            <a:off x="548640" y="2212848"/>
            <a:ext cx="11091672" cy="292608"/>
          </a:xfrm>
          <a:prstGeom prst="roundRect">
            <a:avLst>
              <a:gd name="adj" fmla="val 18750"/>
            </a:avLst>
          </a:prstGeom>
          <a:solidFill>
            <a:srgbClr val="EFF3FF"/>
          </a:solidFill>
          <a:ln/>
        </p:spPr>
      </p:sp>
      <p:sp>
        <p:nvSpPr>
          <p:cNvPr id="425" name="GenText 425"/>
          <p:cNvSpPr/>
          <p:nvPr/>
        </p:nvSpPr>
        <p:spPr>
          <a:xfrm>
            <a:off x="694944" y="2212848"/>
            <a:ext cx="10799064" cy="292608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15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 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dossier — certificate of conformity · tax invoice · dispatch note · e-way bill · bill of entry, as pasted text, dropped files or JSON</a:t>
            </a:r>
          </a:p>
        </p:txBody>
      </p:sp>
      <p:sp>
        <p:nvSpPr>
          <p:cNvPr id="426" name="GenText 426"/>
          <p:cNvSpPr/>
          <p:nvPr/>
        </p:nvSpPr>
        <p:spPr>
          <a:xfrm>
            <a:off x="548640" y="2615184"/>
            <a:ext cx="2035454" cy="18288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spc="150" kern="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</a:p>
        </p:txBody>
      </p:sp>
      <p:sp>
        <p:nvSpPr>
          <p:cNvPr id="427" name="Gen 427"/>
          <p:cNvSpPr/>
          <p:nvPr/>
        </p:nvSpPr>
        <p:spPr>
          <a:xfrm>
            <a:off x="548640" y="2816352"/>
            <a:ext cx="2035454" cy="969264"/>
          </a:xfrm>
          <a:prstGeom prst="roundRect">
            <a:avLst>
              <a:gd name="adj" fmla="val 8491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28" name="GenText 428"/>
          <p:cNvSpPr/>
          <p:nvPr/>
        </p:nvSpPr>
        <p:spPr>
          <a:xfrm>
            <a:off x="667512" y="2935224"/>
            <a:ext cx="1797710" cy="804672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EXTRACT</a:t>
            </a:r>
          </a:p>
          <a:p>
            <a:pPr indent="0" marL="0">
              <a:lnSpc>
                <a:spcPts val="1040"/>
              </a:lnSpc>
              <a:buNone/>
            </a:pPr>
            <a:r>
              <a:rPr lang="en-US" sz="8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become typed assertions {entity, attribute, value, source, date}. It transcribes; it never judges.</a:t>
            </a:r>
          </a:p>
        </p:txBody>
      </p:sp>
      <p:sp>
        <p:nvSpPr>
          <p:cNvPr id="429" name="Gen 429"/>
          <p:cNvSpPr/>
          <p:nvPr/>
        </p:nvSpPr>
        <p:spPr>
          <a:xfrm>
            <a:off x="2625242" y="3337560"/>
            <a:ext cx="146304" cy="0"/>
          </a:xfrm>
          <a:prstGeom prst="line">
            <a:avLst/>
          </a:prstGeom>
          <a:noFill/>
          <a:ln w="15875">
            <a:solidFill>
              <a:srgbClr val="0000CC"/>
            </a:solidFill>
            <a:prstDash val="solid"/>
            <a:tailEnd type="triangle" w="med" len="med"/>
          </a:ln>
        </p:spPr>
      </p:sp>
      <p:sp>
        <p:nvSpPr>
          <p:cNvPr id="430" name="GenText 430"/>
          <p:cNvSpPr/>
          <p:nvPr/>
        </p:nvSpPr>
        <p:spPr>
          <a:xfrm>
            <a:off x="2812694" y="2615184"/>
            <a:ext cx="2035454" cy="18288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spc="150" kern="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CODE</a:t>
            </a:r>
          </a:p>
        </p:txBody>
      </p:sp>
      <p:sp>
        <p:nvSpPr>
          <p:cNvPr id="431" name="Gen 431"/>
          <p:cNvSpPr/>
          <p:nvPr/>
        </p:nvSpPr>
        <p:spPr>
          <a:xfrm>
            <a:off x="2812694" y="2816352"/>
            <a:ext cx="2035454" cy="969264"/>
          </a:xfrm>
          <a:prstGeom prst="roundRect">
            <a:avLst>
              <a:gd name="adj" fmla="val 8491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32" name="GenText 432"/>
          <p:cNvSpPr/>
          <p:nvPr/>
        </p:nvSpPr>
        <p:spPr>
          <a:xfrm>
            <a:off x="2931566" y="2935224"/>
            <a:ext cx="1797710" cy="804672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VALIDATE</a:t>
            </a:r>
          </a:p>
          <a:p>
            <a:pPr indent="0" marL="0">
              <a:lnSpc>
                <a:spcPts val="1040"/>
              </a:lnSpc>
              <a:buNone/>
            </a:pPr>
            <a:r>
              <a:rPr lang="en-US" sz="8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deterministic checks against a local 3.67M-row MCA registry: CIN / GSTIN decode, registry cross-check, date logic, dossier reuse, successor hunt.</a:t>
            </a:r>
          </a:p>
        </p:txBody>
      </p:sp>
      <p:sp>
        <p:nvSpPr>
          <p:cNvPr id="433" name="Gen 433"/>
          <p:cNvSpPr/>
          <p:nvPr/>
        </p:nvSpPr>
        <p:spPr>
          <a:xfrm>
            <a:off x="4889297" y="3337560"/>
            <a:ext cx="146304" cy="0"/>
          </a:xfrm>
          <a:prstGeom prst="line">
            <a:avLst/>
          </a:prstGeom>
          <a:noFill/>
          <a:ln w="15875">
            <a:solidFill>
              <a:srgbClr val="0000CC"/>
            </a:solidFill>
            <a:prstDash val="solid"/>
            <a:tailEnd type="triangle" w="med" len="med"/>
          </a:ln>
        </p:spPr>
      </p:sp>
      <p:sp>
        <p:nvSpPr>
          <p:cNvPr id="434" name="GenText 434"/>
          <p:cNvSpPr/>
          <p:nvPr/>
        </p:nvSpPr>
        <p:spPr>
          <a:xfrm>
            <a:off x="5076749" y="2615184"/>
            <a:ext cx="2035454" cy="18288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spc="150" kern="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</a:p>
        </p:txBody>
      </p:sp>
      <p:sp>
        <p:nvSpPr>
          <p:cNvPr id="435" name="Gen 435"/>
          <p:cNvSpPr/>
          <p:nvPr/>
        </p:nvSpPr>
        <p:spPr>
          <a:xfrm>
            <a:off x="5076749" y="2816352"/>
            <a:ext cx="2035454" cy="969264"/>
          </a:xfrm>
          <a:prstGeom prst="roundRect">
            <a:avLst>
              <a:gd name="adj" fmla="val 8491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36" name="GenText 436"/>
          <p:cNvSpPr/>
          <p:nvPr/>
        </p:nvSpPr>
        <p:spPr>
          <a:xfrm>
            <a:off x="5195621" y="2935224"/>
            <a:ext cx="1797710" cy="804672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LEDGER</a:t>
            </a:r>
          </a:p>
          <a:p>
            <a:pPr indent="0" marL="0">
              <a:lnSpc>
                <a:spcPts val="1040"/>
              </a:lnSpc>
              <a:buNone/>
            </a:pPr>
            <a:r>
              <a:rPr lang="en-US" sz="8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stamped with direction, strength, source tier and dimension. No score is ever computed.</a:t>
            </a:r>
          </a:p>
        </p:txBody>
      </p:sp>
      <p:sp>
        <p:nvSpPr>
          <p:cNvPr id="437" name="Gen 437"/>
          <p:cNvSpPr/>
          <p:nvPr/>
        </p:nvSpPr>
        <p:spPr>
          <a:xfrm>
            <a:off x="7153351" y="3337560"/>
            <a:ext cx="146304" cy="0"/>
          </a:xfrm>
          <a:prstGeom prst="line">
            <a:avLst/>
          </a:prstGeom>
          <a:noFill/>
          <a:ln w="15875">
            <a:solidFill>
              <a:srgbClr val="0000CC"/>
            </a:solidFill>
            <a:prstDash val="solid"/>
            <a:tailEnd type="triangle" w="med" len="med"/>
          </a:ln>
        </p:spPr>
      </p:sp>
      <p:sp>
        <p:nvSpPr>
          <p:cNvPr id="438" name="GenText 438"/>
          <p:cNvSpPr/>
          <p:nvPr/>
        </p:nvSpPr>
        <p:spPr>
          <a:xfrm>
            <a:off x="7340803" y="2615184"/>
            <a:ext cx="2035454" cy="18288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spc="150" kern="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</a:p>
        </p:txBody>
      </p:sp>
      <p:sp>
        <p:nvSpPr>
          <p:cNvPr id="439" name="Gen 439"/>
          <p:cNvSpPr/>
          <p:nvPr/>
        </p:nvSpPr>
        <p:spPr>
          <a:xfrm>
            <a:off x="7340803" y="2816352"/>
            <a:ext cx="2035454" cy="969264"/>
          </a:xfrm>
          <a:prstGeom prst="roundRect">
            <a:avLst>
              <a:gd name="adj" fmla="val 8491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40" name="GenText 440"/>
          <p:cNvSpPr/>
          <p:nvPr/>
        </p:nvSpPr>
        <p:spPr>
          <a:xfrm>
            <a:off x="7459675" y="2935224"/>
            <a:ext cx="1797710" cy="804672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REASON</a:t>
            </a:r>
          </a:p>
          <a:p>
            <a:pPr indent="0" marL="0">
              <a:lnSpc>
                <a:spcPts val="1040"/>
              </a:lnSpc>
              <a:buNone/>
            </a:pPr>
            <a:r>
              <a:rPr lang="en-US" sz="8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benign and a malicious reading of every contradiction — then it attacks its own draft, under tier rules it cannot edit.</a:t>
            </a:r>
          </a:p>
        </p:txBody>
      </p:sp>
      <p:sp>
        <p:nvSpPr>
          <p:cNvPr id="441" name="Gen 441"/>
          <p:cNvSpPr/>
          <p:nvPr/>
        </p:nvSpPr>
        <p:spPr>
          <a:xfrm>
            <a:off x="9417406" y="3337560"/>
            <a:ext cx="146304" cy="0"/>
          </a:xfrm>
          <a:prstGeom prst="line">
            <a:avLst/>
          </a:prstGeom>
          <a:noFill/>
          <a:ln w="15875">
            <a:solidFill>
              <a:srgbClr val="0000CC"/>
            </a:solidFill>
            <a:prstDash val="solid"/>
            <a:tailEnd type="triangle" w="med" len="med"/>
          </a:ln>
        </p:spPr>
      </p:sp>
      <p:sp>
        <p:nvSpPr>
          <p:cNvPr id="442" name="GenText 442"/>
          <p:cNvSpPr/>
          <p:nvPr/>
        </p:nvSpPr>
        <p:spPr>
          <a:xfrm>
            <a:off x="9604858" y="2615184"/>
            <a:ext cx="2035454" cy="18288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b="1" spc="150" kern="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CODE</a:t>
            </a:r>
          </a:p>
        </p:txBody>
      </p:sp>
      <p:sp>
        <p:nvSpPr>
          <p:cNvPr id="443" name="Gen 443"/>
          <p:cNvSpPr/>
          <p:nvPr/>
        </p:nvSpPr>
        <p:spPr>
          <a:xfrm>
            <a:off x="9604858" y="2816352"/>
            <a:ext cx="2035454" cy="969264"/>
          </a:xfrm>
          <a:prstGeom prst="roundRect">
            <a:avLst>
              <a:gd name="adj" fmla="val 8491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44" name="GenText 444"/>
          <p:cNvSpPr/>
          <p:nvPr/>
        </p:nvSpPr>
        <p:spPr>
          <a:xfrm>
            <a:off x="9723730" y="2935224"/>
            <a:ext cx="1797710" cy="804672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VERDICT</a:t>
            </a:r>
          </a:p>
          <a:p>
            <a:pPr indent="0" marL="0">
              <a:lnSpc>
                <a:spcPts val="1040"/>
              </a:lnSpc>
              <a:buNone/>
            </a:pPr>
            <a:r>
              <a:rPr lang="en-US" sz="8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verdict and subtype, the work order, and the action for the OEM, the distributor and the service desk.</a:t>
            </a:r>
          </a:p>
        </p:txBody>
      </p:sp>
      <p:sp>
        <p:nvSpPr>
          <p:cNvPr id="445" name="Gen 445"/>
          <p:cNvSpPr/>
          <p:nvPr/>
        </p:nvSpPr>
        <p:spPr>
          <a:xfrm>
            <a:off x="548640" y="3931920"/>
            <a:ext cx="11091672" cy="292608"/>
          </a:xfrm>
          <a:prstGeom prst="roundRect">
            <a:avLst>
              <a:gd name="adj" fmla="val 18750"/>
            </a:avLst>
          </a:prstGeom>
          <a:solidFill>
            <a:srgbClr val="EFF3FF"/>
          </a:solidFill>
          <a:ln/>
        </p:spPr>
      </p:sp>
      <p:sp>
        <p:nvSpPr>
          <p:cNvPr id="446" name="GenText 446"/>
          <p:cNvSpPr/>
          <p:nvPr/>
        </p:nvSpPr>
        <p:spPr>
          <a:xfrm>
            <a:off x="694944" y="3931920"/>
            <a:ext cx="10799064" cy="292608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15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OUT 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verdict — GENUINE · SUSPECT · UNVERIFIABLE (missing | inaccessible | contradictory | insufficient) — with the evidence ledger, the limits, and the next move for your desk</a:t>
            </a:r>
          </a:p>
        </p:txBody>
      </p:sp>
      <p:sp>
        <p:nvSpPr>
          <p:cNvPr id="447" name="Gen 447"/>
          <p:cNvSpPr/>
          <p:nvPr/>
        </p:nvSpPr>
        <p:spPr>
          <a:xfrm>
            <a:off x="548640" y="4425696"/>
            <a:ext cx="3514314" cy="1929384"/>
          </a:xfrm>
          <a:prstGeom prst="roundRect">
            <a:avLst>
              <a:gd name="adj" fmla="val 4265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48" name="GenText 448"/>
          <p:cNvSpPr/>
          <p:nvPr/>
        </p:nvSpPr>
        <p:spPr>
          <a:xfrm>
            <a:off x="713232" y="4553712"/>
            <a:ext cx="3185130" cy="20116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40"/>
              </a:lnSpc>
              <a:buNone/>
            </a:pPr>
            <a:r>
              <a:rPr lang="en-US" sz="950" b="1" spc="16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MODELS</a:t>
            </a:r>
          </a:p>
        </p:txBody>
      </p:sp>
      <p:sp>
        <p:nvSpPr>
          <p:cNvPr id="449" name="GenText 449"/>
          <p:cNvSpPr/>
          <p:nvPr/>
        </p:nvSpPr>
        <p:spPr>
          <a:xfrm>
            <a:off x="713232" y="4828032"/>
            <a:ext cx="3185130" cy="143560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6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Python 3.12 · FastAPI · DuckDB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pipeline and the registry index; React + Vite + TypeScript + Tailwind for the desk UI, compiled into the repo so a clone runs on Python alone.</a:t>
            </a:r>
          </a:p>
          <a:p>
            <a:pPr indent="0" marL="0">
              <a:lnSpc>
                <a:spcPts val="1160"/>
              </a:lnSpc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Any Anthropic- or OpenAI-compatible endpoint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(demo: DeepSeek-chat, temperature 0) behind one thin wrapper — or no key at all, where a deterministic parser and template reasoner take over and the output says which engine ran.</a:t>
            </a:r>
          </a:p>
        </p:txBody>
      </p:sp>
      <p:sp>
        <p:nvSpPr>
          <p:cNvPr id="450" name="Gen 450"/>
          <p:cNvSpPr/>
          <p:nvPr/>
        </p:nvSpPr>
        <p:spPr>
          <a:xfrm>
            <a:off x="4337274" y="4425696"/>
            <a:ext cx="3514314" cy="1929384"/>
          </a:xfrm>
          <a:prstGeom prst="roundRect">
            <a:avLst>
              <a:gd name="adj" fmla="val 4265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51" name="GenText 451"/>
          <p:cNvSpPr/>
          <p:nvPr/>
        </p:nvSpPr>
        <p:spPr>
          <a:xfrm>
            <a:off x="4501866" y="4553712"/>
            <a:ext cx="3185130" cy="20116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40"/>
              </a:lnSpc>
              <a:buNone/>
            </a:pPr>
            <a:r>
              <a:rPr lang="en-US" sz="950" b="1" spc="16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DECISIONS</a:t>
            </a:r>
          </a:p>
        </p:txBody>
      </p:sp>
      <p:sp>
        <p:nvSpPr>
          <p:cNvPr id="452" name="GenText 452"/>
          <p:cNvSpPr/>
          <p:nvPr/>
        </p:nvSpPr>
        <p:spPr>
          <a:xfrm>
            <a:off x="4501866" y="4828032"/>
            <a:ext cx="3185130" cy="143560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6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Facts never go to a model.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Checksums, date arithmetic and registry lookups are code that is always right, not a model that is usually right.</a:t>
            </a:r>
          </a:p>
          <a:p>
            <a:pPr indent="0" marL="0">
              <a:lnSpc>
                <a:spcPts val="116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Document text is data, never instructions.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Instruction-like lines are stripped before the model sees them and logged as evidence.</a:t>
            </a:r>
          </a:p>
          <a:p>
            <a:pPr indent="0" marL="0">
              <a:lnSpc>
                <a:spcPts val="1160"/>
              </a:lnSpc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Tiers are never averaged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heuristics alone can never force SUSPECT — those gates live in code, not in a prompt.</a:t>
            </a:r>
          </a:p>
        </p:txBody>
      </p:sp>
      <p:sp>
        <p:nvSpPr>
          <p:cNvPr id="453" name="Gen 453"/>
          <p:cNvSpPr/>
          <p:nvPr/>
        </p:nvSpPr>
        <p:spPr>
          <a:xfrm>
            <a:off x="8125998" y="4425696"/>
            <a:ext cx="3514314" cy="1929384"/>
          </a:xfrm>
          <a:prstGeom prst="roundRect">
            <a:avLst>
              <a:gd name="adj" fmla="val 4265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54" name="GenText 454"/>
          <p:cNvSpPr/>
          <p:nvPr/>
        </p:nvSpPr>
        <p:spPr>
          <a:xfrm>
            <a:off x="8290590" y="4553712"/>
            <a:ext cx="3185130" cy="20116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40"/>
              </a:lnSpc>
              <a:buNone/>
            </a:pPr>
            <a:r>
              <a:rPr lang="en-US" sz="950" b="1" spc="16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HUMANS ENTER THE LOOP</a:t>
            </a:r>
          </a:p>
        </p:txBody>
      </p:sp>
      <p:sp>
        <p:nvSpPr>
          <p:cNvPr id="455" name="GenText 455"/>
          <p:cNvSpPr/>
          <p:nvPr/>
        </p:nvSpPr>
        <p:spPr>
          <a:xfrm>
            <a:off x="8290590" y="4828032"/>
            <a:ext cx="3185130" cy="143560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6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desk briefs, the agent proposes, the human sends.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machine: supplier requests for a missing document are drafted for a person to review and send.</a:t>
            </a:r>
          </a:p>
          <a:p>
            <a:pPr indent="0" marL="0">
              <a:lnSpc>
                <a:spcPts val="1160"/>
              </a:lnSpc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reviewer can amputate stage 4 live.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rules-only toggle reruns the same dossier without the model, so the difference the LLM makes is visible rather than claimed.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Approach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536192"/>
            <a:ext cx="914400" cy="0"/>
          </a:xfrm>
          <a:prstGeom prst="line">
            <a:avLst/>
          </a:prstGeom>
          <a:noFill/>
          <a:ln w="31750">
            <a:solidFill>
              <a:srgbClr val="00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i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your agent learn or reason from?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EFF3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Engineering Quality, not scored separately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QUESSATHON · FINAL PRESENTATION BRIEF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2591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  <p:sp>
        <p:nvSpPr>
          <p:cNvPr id="456" name="Gen 456"/>
          <p:cNvSpPr/>
          <p:nvPr/>
        </p:nvSpPr>
        <p:spPr>
          <a:xfrm>
            <a:off x="548640" y="2670048"/>
            <a:ext cx="3514314" cy="2743200"/>
          </a:xfrm>
          <a:prstGeom prst="roundRect">
            <a:avLst>
              <a:gd name="adj" fmla="val 3000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57" name="GenText 457"/>
          <p:cNvSpPr/>
          <p:nvPr/>
        </p:nvSpPr>
        <p:spPr>
          <a:xfrm>
            <a:off x="713232" y="2798064"/>
            <a:ext cx="3185130" cy="20116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40"/>
              </a:lnSpc>
              <a:buNone/>
            </a:pPr>
            <a:r>
              <a:rPr lang="en-US" sz="950" b="1" spc="16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WE DO NOT CONTROL</a:t>
            </a:r>
          </a:p>
        </p:txBody>
      </p:sp>
      <p:sp>
        <p:nvSpPr>
          <p:cNvPr id="458" name="GenText 458"/>
          <p:cNvSpPr/>
          <p:nvPr/>
        </p:nvSpPr>
        <p:spPr>
          <a:xfrm>
            <a:off x="713232" y="3072384"/>
            <a:ext cx="3185130" cy="2249424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6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MCA Company Master Data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(data.gov.in, Ministry of Corporate Affairs): 3.67M companies, snapshot 2026-07-22.</a:t>
            </a:r>
          </a:p>
          <a:p>
            <a:pPr indent="0" marL="0">
              <a:lnSpc>
                <a:spcPts val="116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Structured into DuckDB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two tables — companies (CIN, name, state, status, NIC activity, incorporation date) and gst_state (GSTIN code → state), indexed on CIN and name.</a:t>
            </a:r>
          </a:p>
          <a:p>
            <a:pPr indent="0" marL="0">
              <a:lnSpc>
                <a:spcPts val="116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Public specifications, computed offline: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GSTIN mod-36 check digit, CIN grammar, CGST Rule 138(10) e-way-bill validity, HSN headings, ARAI type approval, Certificate-of-Conformity structure.</a:t>
            </a:r>
          </a:p>
          <a:p>
            <a:pPr indent="0" marL="0">
              <a:lnSpc>
                <a:spcPts val="1160"/>
              </a:lnSpc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BIS licences are a declared stub.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portal is captcha-gated, so we name the limit instead of faking a lookup.</a:t>
            </a:r>
          </a:p>
        </p:txBody>
      </p:sp>
      <p:sp>
        <p:nvSpPr>
          <p:cNvPr id="459" name="Gen 459"/>
          <p:cNvSpPr/>
          <p:nvPr/>
        </p:nvSpPr>
        <p:spPr>
          <a:xfrm>
            <a:off x="4337274" y="2670048"/>
            <a:ext cx="3514314" cy="2743200"/>
          </a:xfrm>
          <a:prstGeom prst="roundRect">
            <a:avLst>
              <a:gd name="adj" fmla="val 3000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60" name="GenText 460"/>
          <p:cNvSpPr/>
          <p:nvPr/>
        </p:nvSpPr>
        <p:spPr>
          <a:xfrm>
            <a:off x="4501866" y="2798064"/>
            <a:ext cx="3185130" cy="20116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40"/>
              </a:lnSpc>
              <a:buNone/>
            </a:pPr>
            <a:r>
              <a:rPr lang="en-US" sz="950" b="1" spc="16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CONSTRUCTED — 15 DOSSIERS</a:t>
            </a:r>
          </a:p>
        </p:txBody>
      </p:sp>
      <p:sp>
        <p:nvSpPr>
          <p:cNvPr id="461" name="GenText 461"/>
          <p:cNvSpPr/>
          <p:nvPr/>
        </p:nvSpPr>
        <p:spPr>
          <a:xfrm>
            <a:off x="4501866" y="3072384"/>
            <a:ext cx="3185130" cy="2249424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6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only synthetic artefact is the forged document itself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which is also the only synthetic artefact in the real version of this problem.</a:t>
            </a:r>
          </a:p>
          <a:p>
            <a:pPr indent="0" marL="0">
              <a:lnSpc>
                <a:spcPts val="116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Every CIN is a real registry record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its real incorporation date, state, status and NIC code, so a juror who looks one up finds exactly what our ledger claims.</a:t>
            </a:r>
          </a:p>
          <a:p>
            <a:pPr indent="0" marL="0">
              <a:lnSpc>
                <a:spcPts val="116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contradictions are therefore real data: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struck-off issuer, a genuinely amalgamated manufacturer, a genuinely 45xxx trading company claiming manufacture.</a:t>
            </a:r>
          </a:p>
          <a:p>
            <a:pPr indent="0" marL="0">
              <a:lnSpc>
                <a:spcPts val="1160"/>
              </a:lnSpc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Names are aliased, identifiers are not.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displayed names change, so no real firm is ever shown as a counterfeiter. GSTINs carry a genuine mod-36 check digit.</a:t>
            </a:r>
          </a:p>
        </p:txBody>
      </p:sp>
      <p:sp>
        <p:nvSpPr>
          <p:cNvPr id="462" name="Gen 462"/>
          <p:cNvSpPr/>
          <p:nvPr/>
        </p:nvSpPr>
        <p:spPr>
          <a:xfrm>
            <a:off x="8125998" y="2670048"/>
            <a:ext cx="3514314" cy="2743200"/>
          </a:xfrm>
          <a:prstGeom prst="roundRect">
            <a:avLst>
              <a:gd name="adj" fmla="val 3000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63" name="GenText 463"/>
          <p:cNvSpPr/>
          <p:nvPr/>
        </p:nvSpPr>
        <p:spPr>
          <a:xfrm>
            <a:off x="8290590" y="2798064"/>
            <a:ext cx="3185130" cy="20116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40"/>
              </a:lnSpc>
              <a:buNone/>
            </a:pPr>
            <a:r>
              <a:rPr lang="en-US" sz="950" b="1" spc="16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WE STATE, NOT HIDE</a:t>
            </a:r>
          </a:p>
        </p:txBody>
      </p:sp>
      <p:sp>
        <p:nvSpPr>
          <p:cNvPr id="464" name="GenText 464"/>
          <p:cNvSpPr/>
          <p:nvPr/>
        </p:nvSpPr>
        <p:spPr>
          <a:xfrm>
            <a:off x="8290590" y="3072384"/>
            <a:ext cx="3185130" cy="2249424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6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It is a snapshot, not a live feed.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changed after 2026-07-22 is reported as unknown, never guessed.</a:t>
            </a:r>
          </a:p>
          <a:p>
            <a:pPr indent="0" marL="0">
              <a:lnSpc>
                <a:spcPts val="116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~3,132 registry rows carry impossible dates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(years like 1111 or 9076). We set those to “date unknown” and the date checks abstain rather than trust or reject them.</a:t>
            </a:r>
          </a:p>
          <a:p>
            <a:pPr indent="0" marL="0">
              <a:lnSpc>
                <a:spcPts val="116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registry mixes NIC-2004 and NIC-2008.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check accepts both automotive ranges (34xx and 29xx) and abstains outside them.</a:t>
            </a:r>
          </a:p>
          <a:p>
            <a:pPr indent="0" marL="0">
              <a:lnSpc>
                <a:spcPts val="116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Live BIS and GSTN status cannot be read offline.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on every verdict, and the reason the UNVERIFIABLE (inaccessible) subtype exists.</a:t>
            </a:r>
          </a:p>
          <a:p>
            <a:pPr indent="0" marL="0">
              <a:lnSpc>
                <a:spcPts val="1160"/>
              </a:lnSpc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We labelled our own cases, and we say so.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design-verification suite, not a field-accuracy corpus.</a:t>
            </a:r>
          </a:p>
        </p:txBody>
      </p:sp>
      <p:sp>
        <p:nvSpPr>
          <p:cNvPr id="465" name="Gen 465"/>
          <p:cNvSpPr/>
          <p:nvPr/>
        </p:nvSpPr>
        <p:spPr>
          <a:xfrm>
            <a:off x="548640" y="5650992"/>
            <a:ext cx="11091672" cy="704088"/>
          </a:xfrm>
          <a:prstGeom prst="roundRect">
            <a:avLst>
              <a:gd name="adj" fmla="val 11688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66" name="GenText 466"/>
          <p:cNvSpPr/>
          <p:nvPr/>
        </p:nvSpPr>
        <p:spPr>
          <a:xfrm>
            <a:off x="768096" y="5650992"/>
            <a:ext cx="10652760" cy="704088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80"/>
              </a:lnSpc>
              <a:buNone/>
            </a:pPr>
            <a:r>
              <a:rPr lang="en-US" sz="950" b="1" spc="15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15 DOSSIERS AT A GLANCE 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GENUINE — including a typo’d lot code that must NOT flag, and an LLP where the identity checks abstain instead of guessing · 6 SUSPECT — a struck-off issuer, a certificate dated before incorporation, a wrong-state GSTIN, a consignment that would have to teleport, a cloned identity carrying the wrong spec, a trader claiming manufacture · 4 UNVERIFIABLE, one for each subtype. We then mutated our own data 306 ways — corrupt CINs, swapped dates, dropped documents, novel injections: 0 false GENUINEs and 0 crashes.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3" name="Text 1"/>
          <p:cNvSpPr/>
          <p:nvPr/>
        </p:nvSpPr>
        <p:spPr>
          <a:xfrm>
            <a:off x="8257032" y="-3200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EF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— MOST IMPORTANT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 Under Uncertainty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914400" cy="0"/>
          </a:xfrm>
          <a:prstGeom prst="line">
            <a:avLst/>
          </a:prstGeom>
          <a:noFill/>
          <a:ln w="31750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i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obvious answer isn't enough.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QUESSATHON · FINAL PRESENTATION BRIEF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591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  <p:sp>
        <p:nvSpPr>
          <p:cNvPr id="467" name="Gen 467"/>
          <p:cNvSpPr/>
          <p:nvPr/>
        </p:nvSpPr>
        <p:spPr>
          <a:xfrm>
            <a:off x="548640" y="2231136"/>
            <a:ext cx="3514314" cy="2779776"/>
          </a:xfrm>
          <a:prstGeom prst="roundRect">
            <a:avLst>
              <a:gd name="adj" fmla="val 2961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68" name="GenText 468"/>
          <p:cNvSpPr/>
          <p:nvPr/>
        </p:nvSpPr>
        <p:spPr>
          <a:xfrm>
            <a:off x="713232" y="2359152"/>
            <a:ext cx="3185130" cy="20116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WEIGHED, NEVER AVERAGED</a:t>
            </a:r>
          </a:p>
        </p:txBody>
      </p:sp>
      <p:sp>
        <p:nvSpPr>
          <p:cNvPr id="469" name="GenText 469"/>
          <p:cNvSpPr/>
          <p:nvPr/>
        </p:nvSpPr>
        <p:spPr>
          <a:xfrm>
            <a:off x="713232" y="2633472"/>
            <a:ext cx="3185130" cy="22860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6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carries four labels, and they travel with it to the screen:</a:t>
            </a:r>
          </a:p>
          <a:p>
            <a:pPr indent="0" marL="0">
              <a:lnSpc>
                <a:spcPts val="116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Direction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supports genuine / supports suspect / neutral</a:t>
            </a:r>
          </a:p>
          <a:p>
            <a:pPr indent="0" marL="0">
              <a:lnSpc>
                <a:spcPts val="116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Strength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weak → moderate → strong → dispositive</a:t>
            </a:r>
          </a:p>
          <a:p>
            <a:pPr indent="0" marL="0">
              <a:lnSpc>
                <a:spcPts val="116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 tier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authoritative → derived → self-reported → heuristic</a:t>
            </a:r>
          </a:p>
          <a:p>
            <a:pPr indent="0" marL="0">
              <a:lnSpc>
                <a:spcPts val="116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Dimension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identity · certification · provenance · custody</a:t>
            </a:r>
          </a:p>
          <a:p>
            <a:pPr indent="0" marL="0">
              <a:lnSpc>
                <a:spcPts val="1160"/>
              </a:lnSpc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rule the whole system obeys: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authoritative record outranks any number of heuristics. Twenty pages of self-consistent paperwork cannot buy back one registry contradiction, and no blended score is ever emitted.</a:t>
            </a:r>
          </a:p>
        </p:txBody>
      </p:sp>
      <p:sp>
        <p:nvSpPr>
          <p:cNvPr id="470" name="Gen 470"/>
          <p:cNvSpPr/>
          <p:nvPr/>
        </p:nvSpPr>
        <p:spPr>
          <a:xfrm>
            <a:off x="4337274" y="2231136"/>
            <a:ext cx="3514314" cy="2779776"/>
          </a:xfrm>
          <a:prstGeom prst="roundRect">
            <a:avLst>
              <a:gd name="adj" fmla="val 2961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71" name="GenText 471"/>
          <p:cNvSpPr/>
          <p:nvPr/>
        </p:nvSpPr>
        <p:spPr>
          <a:xfrm>
            <a:off x="4501866" y="2359152"/>
            <a:ext cx="3185130" cy="20116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ATTACKS ITS OWN ANSWER</a:t>
            </a:r>
          </a:p>
        </p:txBody>
      </p:sp>
      <p:sp>
        <p:nvSpPr>
          <p:cNvPr id="472" name="GenText 472"/>
          <p:cNvSpPr/>
          <p:nvPr/>
        </p:nvSpPr>
        <p:spPr>
          <a:xfrm>
            <a:off x="4501866" y="2633472"/>
            <a:ext cx="3185130" cy="22860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6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For every contradiction it writes both stories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benign one and a malicious one — then says which the evidence supports.</a:t>
            </a:r>
          </a:p>
          <a:p>
            <a:pPr indent="0" marL="0">
              <a:lnSpc>
                <a:spcPts val="116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Then a second pass tries to break the draft.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argues the strongest case that its own answer is wrong. On the struck-off case it found a real gap: the registry snapshot postdates the certificate, so “struck off today” is not “struck off then”.</a:t>
            </a:r>
          </a:p>
          <a:p>
            <a:pPr indent="0" marL="0">
              <a:lnSpc>
                <a:spcPts val="116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And then the code overruled it.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challenge may move a verdict only toward caution, and only when a real contradiction exists. Watch the model argue and the governance floor refuse, on the same screen.</a:t>
            </a:r>
          </a:p>
          <a:p>
            <a:pPr indent="0" marL="0">
              <a:lnSpc>
                <a:spcPts val="1160"/>
              </a:lnSpc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merged supplier.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alone answer SUSPECT. The agent sees one benign mechanism the registry documents, and holds for the NCLT order. Rules-only 14/15; full agent 15/15.</a:t>
            </a:r>
          </a:p>
        </p:txBody>
      </p:sp>
      <p:sp>
        <p:nvSpPr>
          <p:cNvPr id="473" name="Gen 473"/>
          <p:cNvSpPr/>
          <p:nvPr/>
        </p:nvSpPr>
        <p:spPr>
          <a:xfrm>
            <a:off x="8125998" y="2231136"/>
            <a:ext cx="3514314" cy="2779776"/>
          </a:xfrm>
          <a:prstGeom prst="roundRect">
            <a:avLst>
              <a:gd name="adj" fmla="val 2961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74" name="GenText 474"/>
          <p:cNvSpPr/>
          <p:nvPr/>
        </p:nvSpPr>
        <p:spPr>
          <a:xfrm>
            <a:off x="8290590" y="2359152"/>
            <a:ext cx="3185130" cy="20116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6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· ASK · ESCALATE</a:t>
            </a:r>
          </a:p>
        </p:txBody>
      </p:sp>
      <p:sp>
        <p:nvSpPr>
          <p:cNvPr id="475" name="GenText 475"/>
          <p:cNvSpPr/>
          <p:nvPr/>
        </p:nvSpPr>
        <p:spPr>
          <a:xfrm>
            <a:off x="8290590" y="2633472"/>
            <a:ext cx="3185130" cy="2286000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6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ACT — GENUINE.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lot; the dossier is logged against the lot code.</a:t>
            </a:r>
          </a:p>
          <a:p>
            <a:pPr indent="0" marL="0">
              <a:lnSpc>
                <a:spcPts val="116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ESCALATE — SUSPECT.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Quarantine, freeze payment, preserve the originals; the OEM opens a brand-protection case. Heuristics alone can never trigger this — code gates it, not the prompt.</a:t>
            </a:r>
          </a:p>
          <a:p>
            <a:pPr indent="0" marL="0">
              <a:lnSpc>
                <a:spcPts val="116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ASK — UNVERIFIABLE.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 order, not a shrug: it names the subtype, the single decisive missing document, an interim action and a low-confidence lean, then drafts the supplier request for a human to send.</a:t>
            </a:r>
          </a:p>
          <a:p>
            <a:pPr indent="0" marL="0">
              <a:lnSpc>
                <a:spcPts val="1160"/>
              </a:lnSpc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 the 15-case suite it abstains on 27% rather than guess,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is right 11 times out of 11 when it does commit.</a:t>
            </a:r>
          </a:p>
        </p:txBody>
      </p:sp>
      <p:sp>
        <p:nvSpPr>
          <p:cNvPr id="476" name="Gen 476"/>
          <p:cNvSpPr/>
          <p:nvPr/>
        </p:nvSpPr>
        <p:spPr>
          <a:xfrm>
            <a:off x="548640" y="5230368"/>
            <a:ext cx="11091672" cy="932688"/>
          </a:xfrm>
          <a:prstGeom prst="roundRect">
            <a:avLst>
              <a:gd name="adj" fmla="val 9804"/>
            </a:avLst>
          </a:prstGeom>
          <a:solidFill>
            <a:srgbClr val="EFF3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477" name="GenText 477"/>
          <p:cNvSpPr/>
          <p:nvPr/>
        </p:nvSpPr>
        <p:spPr>
          <a:xfrm>
            <a:off x="804672" y="5230368"/>
            <a:ext cx="10579608" cy="932688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One thing this system would still get wrong — </a:t>
            </a:r>
            <a:r>
              <a:rPr lang="en-US" sz="11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</a:t>
            </a:r>
            <a:r>
              <a:rPr lang="en-US" sz="1150" b="1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r>
              <a:rPr lang="en-US" sz="11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presentation of a cloned dossier. We now keep a seen-lots archive, so the second time that paperwork appears at this desk it is caught — but the first time, a byte-perfect copy of a genuine trail attached to counterfeit goods passes every check, because nothing on the paper is false. The archive only knows what this desk has seen; a clone presented at a different distributor is invisible until those archives are shared. We print that limit on every verdict rather than let a jury find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3" name="Text 1"/>
          <p:cNvSpPr/>
          <p:nvPr/>
        </p:nvSpPr>
        <p:spPr>
          <a:xfrm>
            <a:off x="8257032" y="-3200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EF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914400" cy="0"/>
          </a:xfrm>
          <a:prstGeom prst="line">
            <a:avLst/>
          </a:prstGeom>
          <a:noFill/>
          <a:ln w="31750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i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understand why your agent decided that?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QUESSATHON · FINAL PRESENTATION BRIEF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591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  <p:sp>
        <p:nvSpPr>
          <p:cNvPr id="478" name="GenText 478"/>
          <p:cNvSpPr/>
          <p:nvPr/>
        </p:nvSpPr>
        <p:spPr>
          <a:xfrm>
            <a:off x="548640" y="2212848"/>
            <a:ext cx="11091672" cy="219456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spc="150" kern="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REAL OUTPUT, UNEDITED  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suspension arms SA-0663, lot MAI-251210-00305 · 3 documents · 25 checks · verdict in under a second, offline</a:t>
            </a:r>
          </a:p>
        </p:txBody>
      </p:sp>
      <p:sp>
        <p:nvSpPr>
          <p:cNvPr id="479" name="Gen 479"/>
          <p:cNvSpPr/>
          <p:nvPr/>
        </p:nvSpPr>
        <p:spPr>
          <a:xfrm>
            <a:off x="548640" y="2523744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480" name="GenText 480"/>
          <p:cNvSpPr/>
          <p:nvPr/>
        </p:nvSpPr>
        <p:spPr>
          <a:xfrm>
            <a:off x="749808" y="2523744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</a:t>
            </a:r>
          </a:p>
        </p:txBody>
      </p:sp>
      <p:sp>
        <p:nvSpPr>
          <p:cNvPr id="481" name="GenText 481"/>
          <p:cNvSpPr/>
          <p:nvPr/>
        </p:nvSpPr>
        <p:spPr>
          <a:xfrm>
            <a:off x="2487168" y="2523744"/>
            <a:ext cx="8951976" cy="78638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Why: </a:t>
            </a:r>
            <a:r>
              <a:rPr lang="en-US" sz="12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company that signed the certificate of conformity is recorded on the MCA registry as </a:t>
            </a:r>
            <a:r>
              <a:rPr lang="en-US" sz="1200" b="1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Strike Off </a:t>
            </a:r>
            <a:r>
              <a:rPr lang="en-US" sz="12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struck-off company cannot lawfully be manufacturing or invoicing parts today.</a:t>
            </a:r>
          </a:p>
        </p:txBody>
      </p:sp>
      <p:sp>
        <p:nvSpPr>
          <p:cNvPr id="482" name="GenText 482"/>
          <p:cNvSpPr/>
          <p:nvPr/>
        </p:nvSpPr>
        <p:spPr>
          <a:xfrm>
            <a:off x="548640" y="34747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b="1" spc="200" kern="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THAT DECIDED IT</a:t>
            </a:r>
          </a:p>
        </p:txBody>
      </p:sp>
      <p:sp>
        <p:nvSpPr>
          <p:cNvPr id="483" name="Gen 483"/>
          <p:cNvSpPr/>
          <p:nvPr/>
        </p:nvSpPr>
        <p:spPr>
          <a:xfrm>
            <a:off x="548640" y="3749040"/>
            <a:ext cx="11091672" cy="256032"/>
          </a:xfrm>
          <a:prstGeom prst="rect">
            <a:avLst/>
          </a:prstGeom>
          <a:solidFill>
            <a:srgbClr val="EFF3FF"/>
          </a:solidFill>
          <a:ln/>
        </p:spPr>
      </p:sp>
      <p:sp>
        <p:nvSpPr>
          <p:cNvPr id="484" name="GenText 484"/>
          <p:cNvSpPr/>
          <p:nvPr/>
        </p:nvSpPr>
        <p:spPr>
          <a:xfrm>
            <a:off x="640080" y="3749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spc="12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</a:p>
        </p:txBody>
      </p:sp>
      <p:sp>
        <p:nvSpPr>
          <p:cNvPr id="485" name="GenText 485"/>
          <p:cNvSpPr/>
          <p:nvPr/>
        </p:nvSpPr>
        <p:spPr>
          <a:xfrm>
            <a:off x="2999232" y="37490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spc="12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FOUND</a:t>
            </a:r>
          </a:p>
        </p:txBody>
      </p:sp>
      <p:sp>
        <p:nvSpPr>
          <p:cNvPr id="486" name="GenText 486"/>
          <p:cNvSpPr/>
          <p:nvPr/>
        </p:nvSpPr>
        <p:spPr>
          <a:xfrm>
            <a:off x="7918704" y="374904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spc="12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· STRENGTH</a:t>
            </a:r>
          </a:p>
        </p:txBody>
      </p:sp>
      <p:sp>
        <p:nvSpPr>
          <p:cNvPr id="487" name="GenText 487"/>
          <p:cNvSpPr/>
          <p:nvPr/>
        </p:nvSpPr>
        <p:spPr>
          <a:xfrm>
            <a:off x="9930384" y="3749040"/>
            <a:ext cx="1618488" cy="256032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spc="12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</a:p>
        </p:txBody>
      </p:sp>
      <p:sp>
        <p:nvSpPr>
          <p:cNvPr id="488" name="Gen 488"/>
          <p:cNvSpPr/>
          <p:nvPr/>
        </p:nvSpPr>
        <p:spPr>
          <a:xfrm>
            <a:off x="548640" y="4005072"/>
            <a:ext cx="11091672" cy="0"/>
          </a:xfrm>
          <a:prstGeom prst="line">
            <a:avLst/>
          </a:prstGeom>
          <a:noFill/>
          <a:ln w="9525">
            <a:solidFill>
              <a:srgbClr val="C9D3F2"/>
            </a:solidFill>
            <a:prstDash val="solid"/>
          </a:ln>
        </p:spPr>
      </p:sp>
      <p:sp>
        <p:nvSpPr>
          <p:cNvPr id="489" name="GenText 489"/>
          <p:cNvSpPr/>
          <p:nvPr/>
        </p:nvSpPr>
        <p:spPr>
          <a:xfrm>
            <a:off x="640080" y="40050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company_status_active</a:t>
            </a:r>
          </a:p>
        </p:txBody>
      </p:sp>
      <p:sp>
        <p:nvSpPr>
          <p:cNvPr id="490" name="GenText 490"/>
          <p:cNvSpPr/>
          <p:nvPr/>
        </p:nvSpPr>
        <p:spPr>
          <a:xfrm>
            <a:off x="2999232" y="400507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— MCA registry status: Strike Off</a:t>
            </a:r>
          </a:p>
        </p:txBody>
      </p:sp>
      <p:sp>
        <p:nvSpPr>
          <p:cNvPr id="491" name="GenText 491"/>
          <p:cNvSpPr/>
          <p:nvPr/>
        </p:nvSpPr>
        <p:spPr>
          <a:xfrm>
            <a:off x="7918704" y="4005072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· strong</a:t>
            </a:r>
          </a:p>
        </p:txBody>
      </p:sp>
      <p:sp>
        <p:nvSpPr>
          <p:cNvPr id="492" name="GenText 492"/>
          <p:cNvSpPr/>
          <p:nvPr/>
        </p:nvSpPr>
        <p:spPr>
          <a:xfrm>
            <a:off x="9930384" y="4005072"/>
            <a:ext cx="1618488" cy="32918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suspect</a:t>
            </a:r>
          </a:p>
        </p:txBody>
      </p:sp>
      <p:sp>
        <p:nvSpPr>
          <p:cNvPr id="493" name="Gen 493"/>
          <p:cNvSpPr/>
          <p:nvPr/>
        </p:nvSpPr>
        <p:spPr>
          <a:xfrm>
            <a:off x="548640" y="4334256"/>
            <a:ext cx="11091672" cy="0"/>
          </a:xfrm>
          <a:prstGeom prst="line">
            <a:avLst/>
          </a:prstGeom>
          <a:noFill/>
          <a:ln w="9525">
            <a:solidFill>
              <a:srgbClr val="C9D3F2"/>
            </a:solidFill>
            <a:prstDash val="solid"/>
          </a:ln>
        </p:spPr>
      </p:sp>
      <p:sp>
        <p:nvSpPr>
          <p:cNvPr id="494" name="GenText 494"/>
          <p:cNvSpPr/>
          <p:nvPr/>
        </p:nvSpPr>
        <p:spPr>
          <a:xfrm>
            <a:off x="640080" y="433425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registry_exists</a:t>
            </a:r>
          </a:p>
        </p:txBody>
      </p:sp>
      <p:sp>
        <p:nvSpPr>
          <p:cNvPr id="495" name="GenText 495"/>
          <p:cNvSpPr/>
          <p:nvPr/>
        </p:nvSpPr>
        <p:spPr>
          <a:xfrm>
            <a:off x="2999232" y="433425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CIN U74900DL1994PTC057980 found; snapshot 2026-07-22</a:t>
            </a:r>
          </a:p>
        </p:txBody>
      </p:sp>
      <p:sp>
        <p:nvSpPr>
          <p:cNvPr id="496" name="GenText 496"/>
          <p:cNvSpPr/>
          <p:nvPr/>
        </p:nvSpPr>
        <p:spPr>
          <a:xfrm>
            <a:off x="7918704" y="433425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· moderate</a:t>
            </a:r>
          </a:p>
        </p:txBody>
      </p:sp>
      <p:sp>
        <p:nvSpPr>
          <p:cNvPr id="497" name="GenText 497"/>
          <p:cNvSpPr/>
          <p:nvPr/>
        </p:nvSpPr>
        <p:spPr>
          <a:xfrm>
            <a:off x="9930384" y="4334256"/>
            <a:ext cx="1618488" cy="32918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genuine</a:t>
            </a:r>
          </a:p>
        </p:txBody>
      </p:sp>
      <p:sp>
        <p:nvSpPr>
          <p:cNvPr id="498" name="Gen 498"/>
          <p:cNvSpPr/>
          <p:nvPr/>
        </p:nvSpPr>
        <p:spPr>
          <a:xfrm>
            <a:off x="548640" y="4663440"/>
            <a:ext cx="11091672" cy="0"/>
          </a:xfrm>
          <a:prstGeom prst="line">
            <a:avLst/>
          </a:prstGeom>
          <a:noFill/>
          <a:ln w="9525">
            <a:solidFill>
              <a:srgbClr val="C9D3F2"/>
            </a:solidFill>
            <a:prstDash val="solid"/>
          </a:ln>
        </p:spPr>
      </p:sp>
      <p:sp>
        <p:nvSpPr>
          <p:cNvPr id="499" name="GenText 499"/>
          <p:cNvSpPr/>
          <p:nvPr/>
        </p:nvSpPr>
        <p:spPr>
          <a:xfrm>
            <a:off x="640080" y="466344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gstin_checksum</a:t>
            </a:r>
          </a:p>
        </p:txBody>
      </p:sp>
      <p:sp>
        <p:nvSpPr>
          <p:cNvPr id="500" name="GenText 500"/>
          <p:cNvSpPr/>
          <p:nvPr/>
        </p:nvSpPr>
        <p:spPr>
          <a:xfrm>
            <a:off x="2999232" y="466344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mod-36 check character consistent (a forger can compute one)</a:t>
            </a:r>
          </a:p>
        </p:txBody>
      </p:sp>
      <p:sp>
        <p:nvSpPr>
          <p:cNvPr id="501" name="GenText 501"/>
          <p:cNvSpPr/>
          <p:nvPr/>
        </p:nvSpPr>
        <p:spPr>
          <a:xfrm>
            <a:off x="7918704" y="466344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· weak</a:t>
            </a:r>
          </a:p>
        </p:txBody>
      </p:sp>
      <p:sp>
        <p:nvSpPr>
          <p:cNvPr id="502" name="GenText 502"/>
          <p:cNvSpPr/>
          <p:nvPr/>
        </p:nvSpPr>
        <p:spPr>
          <a:xfrm>
            <a:off x="9930384" y="4663440"/>
            <a:ext cx="1618488" cy="329184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genuine</a:t>
            </a:r>
          </a:p>
        </p:txBody>
      </p:sp>
      <p:sp>
        <p:nvSpPr>
          <p:cNvPr id="503" name="Gen 503"/>
          <p:cNvSpPr/>
          <p:nvPr/>
        </p:nvSpPr>
        <p:spPr>
          <a:xfrm>
            <a:off x="548640" y="4992624"/>
            <a:ext cx="11091672" cy="0"/>
          </a:xfrm>
          <a:prstGeom prst="line">
            <a:avLst/>
          </a:prstGeom>
          <a:noFill/>
          <a:ln w="9525">
            <a:solidFill>
              <a:srgbClr val="C9D3F2"/>
            </a:solidFill>
            <a:prstDash val="solid"/>
          </a:ln>
        </p:spPr>
      </p:sp>
      <p:sp>
        <p:nvSpPr>
          <p:cNvPr id="504" name="GenText 504"/>
          <p:cNvSpPr/>
          <p:nvPr/>
        </p:nvSpPr>
        <p:spPr>
          <a:xfrm>
            <a:off x="548640" y="5102352"/>
            <a:ext cx="11091672" cy="493776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15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10 further findings supported the trail.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offset one strong authoritative contradiction — tiers are never averaged, and no score is emitted. Each row names the document it came from and is re-runnable.</a:t>
            </a:r>
          </a:p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And what would change it: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out that one finding and this reads GENUINE. Every other row could go and the answer would not move. Computed by re-running the same governance rules with one finding removed — not by a second model explaining the first.</a:t>
            </a:r>
          </a:p>
        </p:txBody>
      </p:sp>
      <p:sp>
        <p:nvSpPr>
          <p:cNvPr id="505" name="GenText 505"/>
          <p:cNvSpPr/>
          <p:nvPr/>
        </p:nvSpPr>
        <p:spPr>
          <a:xfrm>
            <a:off x="548640" y="550468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b="1" spc="200" kern="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HUMAN DOES NEXT</a:t>
            </a:r>
          </a:p>
        </p:txBody>
      </p:sp>
      <p:sp>
        <p:nvSpPr>
          <p:cNvPr id="506" name="Gen 506"/>
          <p:cNvSpPr/>
          <p:nvPr/>
        </p:nvSpPr>
        <p:spPr>
          <a:xfrm>
            <a:off x="548640" y="5760720"/>
            <a:ext cx="3514314" cy="594360"/>
          </a:xfrm>
          <a:prstGeom prst="roundRect">
            <a:avLst>
              <a:gd name="adj" fmla="val 13846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507" name="GenText 507"/>
          <p:cNvSpPr/>
          <p:nvPr/>
        </p:nvSpPr>
        <p:spPr>
          <a:xfrm>
            <a:off x="676656" y="5760720"/>
            <a:ext cx="3258282" cy="59436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— incoming goods (primary)</a:t>
            </a:r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the lot, freeze payment to the supplier, preserve every original document.</a:t>
            </a:r>
          </a:p>
        </p:txBody>
      </p:sp>
      <p:sp>
        <p:nvSpPr>
          <p:cNvPr id="508" name="Gen 508"/>
          <p:cNvSpPr/>
          <p:nvPr/>
        </p:nvSpPr>
        <p:spPr>
          <a:xfrm>
            <a:off x="4337274" y="5760720"/>
            <a:ext cx="3514314" cy="594360"/>
          </a:xfrm>
          <a:prstGeom prst="roundRect">
            <a:avLst>
              <a:gd name="adj" fmla="val 13846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509" name="GenText 509"/>
          <p:cNvSpPr/>
          <p:nvPr/>
        </p:nvSpPr>
        <p:spPr>
          <a:xfrm>
            <a:off x="4465290" y="5760720"/>
            <a:ext cx="3258282" cy="59436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— brand protection</a:t>
            </a:r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case, notify legal, request a physical sample of the lot for inspection.</a:t>
            </a:r>
          </a:p>
        </p:txBody>
      </p:sp>
      <p:sp>
        <p:nvSpPr>
          <p:cNvPr id="510" name="Gen 510"/>
          <p:cNvSpPr/>
          <p:nvPr/>
        </p:nvSpPr>
        <p:spPr>
          <a:xfrm>
            <a:off x="8125998" y="5760720"/>
            <a:ext cx="3514314" cy="594360"/>
          </a:xfrm>
          <a:prstGeom prst="roundRect">
            <a:avLst>
              <a:gd name="adj" fmla="val 13846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511" name="GenText 511"/>
          <p:cNvSpPr/>
          <p:nvPr/>
        </p:nvSpPr>
        <p:spPr>
          <a:xfrm>
            <a:off x="8254014" y="5760720"/>
            <a:ext cx="3258282" cy="59436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— at fitment</a:t>
            </a:r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fit. Remove any already fitted at next service and inform affected customers.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3" name="Text 1"/>
          <p:cNvSpPr/>
          <p:nvPr/>
        </p:nvSpPr>
        <p:spPr>
          <a:xfrm>
            <a:off x="8257032" y="-3200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EF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914400" cy="0"/>
          </a:xfrm>
          <a:prstGeom prst="line">
            <a:avLst/>
          </a:prstGeom>
          <a:noFill/>
          <a:ln w="31750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i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anyone deploy this?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QUESSATHON · FINAL PRESENTATION BRIEF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591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  <p:sp>
        <p:nvSpPr>
          <p:cNvPr id="512" name="GenText 512"/>
          <p:cNvSpPr/>
          <p:nvPr/>
        </p:nvSpPr>
        <p:spPr>
          <a:xfrm>
            <a:off x="548640" y="2231136"/>
            <a:ext cx="5440680" cy="219456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b="1" spc="200" kern="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 — THREE LEVELS, ONE SYSTEM</a:t>
            </a:r>
          </a:p>
        </p:txBody>
      </p:sp>
      <p:sp>
        <p:nvSpPr>
          <p:cNvPr id="513" name="Gen 513"/>
          <p:cNvSpPr/>
          <p:nvPr/>
        </p:nvSpPr>
        <p:spPr>
          <a:xfrm>
            <a:off x="594360" y="2578608"/>
            <a:ext cx="64008" cy="6400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14" name="GenText 514"/>
          <p:cNvSpPr/>
          <p:nvPr/>
        </p:nvSpPr>
        <p:spPr>
          <a:xfrm>
            <a:off x="841248" y="2523744"/>
            <a:ext cx="5148072" cy="56692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200"/>
              </a:lnSpc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brand protection · channel audits</a:t>
            </a:r>
          </a:p>
          <a:p>
            <a:pPr indent="0" marL="0">
              <a:lnSpc>
                <a:spcPts val="1160"/>
              </a:lnSpc>
              <a:buNone/>
            </a:pP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dossier screening across the authorised network the way it mandates every other channel-compliance control, and receives the append-only evidence ledgers as the audit trail.</a:t>
            </a:r>
          </a:p>
        </p:txBody>
      </p:sp>
      <p:sp>
        <p:nvSpPr>
          <p:cNvPr id="515" name="Gen 515"/>
          <p:cNvSpPr/>
          <p:nvPr/>
        </p:nvSpPr>
        <p:spPr>
          <a:xfrm>
            <a:off x="594360" y="3200400"/>
            <a:ext cx="64008" cy="6400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16" name="GenText 516"/>
          <p:cNvSpPr/>
          <p:nvPr/>
        </p:nvSpPr>
        <p:spPr>
          <a:xfrm>
            <a:off x="841248" y="3145536"/>
            <a:ext cx="5148072" cy="56692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200"/>
              </a:lnSpc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incoming-goods QA · at goods receipt</a:t>
            </a:r>
          </a:p>
          <a:p>
            <a:pPr indent="0" marL="0">
              <a:lnSpc>
                <a:spcPts val="1160"/>
              </a:lnSpc>
              <a:buNone/>
            </a:pP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user: the desk that carries warranty liability and loses the franchise when spurious parts surface in its channel.</a:t>
            </a:r>
          </a:p>
        </p:txBody>
      </p:sp>
      <p:sp>
        <p:nvSpPr>
          <p:cNvPr id="517" name="Gen 517"/>
          <p:cNvSpPr/>
          <p:nvPr/>
        </p:nvSpPr>
        <p:spPr>
          <a:xfrm>
            <a:off x="594360" y="3822192"/>
            <a:ext cx="64008" cy="6400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18" name="GenText 518"/>
          <p:cNvSpPr/>
          <p:nvPr/>
        </p:nvSpPr>
        <p:spPr>
          <a:xfrm>
            <a:off x="841248" y="3767328"/>
            <a:ext cx="5148072" cy="566928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200"/>
              </a:lnSpc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Showroom and service · at fitment</a:t>
            </a:r>
          </a:p>
          <a:p>
            <a:pPr indent="0" marL="0">
              <a:lnSpc>
                <a:spcPts val="1160"/>
              </a:lnSpc>
              <a:buNone/>
            </a:pP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gate before a counterfeit safety part reaches a vehicle.</a:t>
            </a:r>
          </a:p>
        </p:txBody>
      </p:sp>
      <p:sp>
        <p:nvSpPr>
          <p:cNvPr id="519" name="GenText 519"/>
          <p:cNvSpPr/>
          <p:nvPr/>
        </p:nvSpPr>
        <p:spPr>
          <a:xfrm>
            <a:off x="6199632" y="2231136"/>
            <a:ext cx="5440680" cy="219456"/>
          </a:xfrm>
          <a:prstGeom prst="rect">
            <a:avLst/>
          </a:prstGeom>
          <a:noFill/>
          <a:ln/>
        </p:spPr>
        <p:txBody>
          <a:bodyPr wrap="square" rtlCol="0" anchor="t" lIns="0" tIns="0" rIns="0" bIns="0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b="1" spc="200" kern="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CHANGES AT THE DESK</a:t>
            </a:r>
          </a:p>
        </p:txBody>
      </p:sp>
      <p:sp>
        <p:nvSpPr>
          <p:cNvPr id="520" name="Gen 520"/>
          <p:cNvSpPr/>
          <p:nvPr/>
        </p:nvSpPr>
        <p:spPr>
          <a:xfrm>
            <a:off x="6199632" y="2523744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521" name="GenText 521"/>
          <p:cNvSpPr/>
          <p:nvPr/>
        </p:nvSpPr>
        <p:spPr>
          <a:xfrm>
            <a:off x="6382512" y="2523744"/>
            <a:ext cx="5074920" cy="1645920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6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00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Today: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goods-receipt clerk looks at a certificate they have no way to verify, and signs for the lot. Real verification means a captcha-gated portal, per company, per lot — so in practice nobody does it, and the lot moves.</a:t>
            </a:r>
          </a:p>
          <a:p>
            <a:pPr indent="0" marL="0">
              <a:lnSpc>
                <a:spcPts val="116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With PROVENANCE: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clerk pastes the dossier and gets one verdict in seconds — the findings that decided it, the action for their desk, and a drafted supplier request for the one document that would settle an abstention. The lot stays on screen until that document arrives.</a:t>
            </a:r>
          </a:p>
          <a:p>
            <a:pPr indent="0" marL="0">
              <a:lnSpc>
                <a:spcPts val="1160"/>
              </a:lnSpc>
              <a:buNone/>
            </a:pP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workflow changes from </a:t>
            </a:r>
            <a:r>
              <a:rPr lang="en-US" sz="950" b="1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sign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to </a:t>
            </a:r>
            <a:r>
              <a:rPr lang="en-US" sz="950" b="1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and decide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before the money moves.</a:t>
            </a:r>
          </a:p>
        </p:txBody>
      </p:sp>
      <p:sp>
        <p:nvSpPr>
          <p:cNvPr id="522" name="Gen 522"/>
          <p:cNvSpPr/>
          <p:nvPr/>
        </p:nvSpPr>
        <p:spPr>
          <a:xfrm>
            <a:off x="548640" y="4443984"/>
            <a:ext cx="3514314" cy="841248"/>
          </a:xfrm>
          <a:prstGeom prst="roundRect">
            <a:avLst>
              <a:gd name="adj" fmla="val 9783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523" name="GenText 523"/>
          <p:cNvSpPr/>
          <p:nvPr/>
        </p:nvSpPr>
        <p:spPr>
          <a:xfrm>
            <a:off x="694944" y="4443984"/>
            <a:ext cx="3221706" cy="841248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per dossier</a:t>
            </a:r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 in milliseconds, one reasoning pass on top — on commodity hardware, at the desk.</a:t>
            </a:r>
          </a:p>
        </p:txBody>
      </p:sp>
      <p:sp>
        <p:nvSpPr>
          <p:cNvPr id="524" name="Gen 524"/>
          <p:cNvSpPr/>
          <p:nvPr/>
        </p:nvSpPr>
        <p:spPr>
          <a:xfrm>
            <a:off x="4337274" y="4443984"/>
            <a:ext cx="3514314" cy="841248"/>
          </a:xfrm>
          <a:prstGeom prst="roundRect">
            <a:avLst>
              <a:gd name="adj" fmla="val 9783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525" name="GenText 525"/>
          <p:cNvSpPr/>
          <p:nvPr/>
        </p:nvSpPr>
        <p:spPr>
          <a:xfrm>
            <a:off x="4483578" y="4443984"/>
            <a:ext cx="3221706" cy="841248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per-lookup fee</a:t>
            </a:r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is a local file, not a metered API, so screening every lot costs the same as screening one.</a:t>
            </a:r>
          </a:p>
        </p:txBody>
      </p:sp>
      <p:sp>
        <p:nvSpPr>
          <p:cNvPr id="526" name="Gen 526"/>
          <p:cNvSpPr/>
          <p:nvPr/>
        </p:nvSpPr>
        <p:spPr>
          <a:xfrm>
            <a:off x="8125998" y="4443984"/>
            <a:ext cx="3514314" cy="841248"/>
          </a:xfrm>
          <a:prstGeom prst="roundRect">
            <a:avLst>
              <a:gd name="adj" fmla="val 9783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527" name="GenText 527"/>
          <p:cNvSpPr/>
          <p:nvPr/>
        </p:nvSpPr>
        <p:spPr>
          <a:xfrm>
            <a:off x="8272302" y="4443984"/>
            <a:ext cx="3221706" cy="841248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held, 11/11 right</a:t>
            </a:r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abstains with a named missing document instead of guessing — a two-day hold against the cost of a recall.</a:t>
            </a:r>
          </a:p>
        </p:txBody>
      </p:sp>
      <p:sp>
        <p:nvSpPr>
          <p:cNvPr id="528" name="Gen 528"/>
          <p:cNvSpPr/>
          <p:nvPr/>
        </p:nvSpPr>
        <p:spPr>
          <a:xfrm>
            <a:off x="548640" y="5504688"/>
            <a:ext cx="11091672" cy="850392"/>
          </a:xfrm>
          <a:prstGeom prst="roundRect">
            <a:avLst>
              <a:gd name="adj" fmla="val 9677"/>
            </a:avLst>
          </a:prstGeom>
          <a:solidFill>
            <a:srgbClr val="EFF3FF"/>
          </a:solidFill>
          <a:ln w="9525">
            <a:solidFill>
              <a:srgbClr val="0000CC"/>
            </a:solidFill>
            <a:prstDash val="solid"/>
          </a:ln>
        </p:spPr>
      </p:sp>
      <p:sp>
        <p:nvSpPr>
          <p:cNvPr id="529" name="GenText 529"/>
          <p:cNvSpPr/>
          <p:nvPr/>
        </p:nvSpPr>
        <p:spPr>
          <a:xfrm>
            <a:off x="768096" y="5504688"/>
            <a:ext cx="10652760" cy="850392"/>
          </a:xfrm>
          <a:prstGeom prst="rect">
            <a:avLst/>
          </a:prstGeom>
          <a:noFill/>
          <a:ln/>
        </p:spPr>
        <p:txBody>
          <a:bodyPr wrap="square" rtlCol="0" anchor="ctr" lIns="0" tIns="0" rIns="0" bIns="0"/>
          <a:lstStyle/>
          <a:p>
            <a:pPr indent="0" marL="0">
              <a:lnSpc>
                <a:spcPts val="1180"/>
              </a:lnSpc>
              <a:buNone/>
            </a:pPr>
            <a:r>
              <a:rPr lang="en-US" sz="950" b="1" spc="150" kern="0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FROM POC TO PILOT  </a:t>
            </a:r>
            <a:r>
              <a:rPr lang="en-US" sz="9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nightly registry sync (one script today, run by hand) · 2 live BIS and GSTN lookups wherever the site has connectivity · 3 a dossier-hash / lot-reuse archive, which closes the cloned-paperwork gap · 4 OCR and document-image ingestion. Pilot shape: one distributor’s incoming-goods desk, 90 days, measured on lots held versus lots later confirmed counterfeit, and on clerk minutes per dossier.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2026-09-04T06:19:17Z</dcterms:created>
  <dcterms:modified xsi:type="dcterms:W3CDTF">2026-09-04T06:19:17Z</dcterms:modified>
</cp:coreProperties>
</file>